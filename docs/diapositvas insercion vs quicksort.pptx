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795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(aprox. 1 min): decir nombres, los dos algoritmos y el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1 del artículo (complejidad teórica). Fuente: Cormen et al. (2022) y Knuth (1998).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pantalla el código en C++: funciones principales, lógica y registro de métricas (1-2 min). Capturas sugeridas: función de inserción, función de Quicksort, contadores y escritura del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el bloque de implementación y explicar por qué hay 900 ejecuciones.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2 (estadística descriptiva completa) como respaldo en el archivo de resultados. Aquí solo se muestran las medias con n = 10 000.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1 del artículo. En el artículo falta el panel de duplicados; conviene añadirlo desde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4 del artículo. La celda n = 5000 descendente aparece como 2,24 en el artículo, pero con las medias de la Tabla 2 sale cerca de 227; revisar antes de exponer.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 (aprox. 1 min), relacionadas con la complejidad computacional.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422400"/>
            <a:ext cx="10566400" cy="462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422400"/>
            <a:ext cx="10566400" cy="462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kern="0" spc="100" dirty="0">
                <a:solidFill>
                  <a:srgbClr val="AAB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 NACIONAL JORGE BASADRE GROHMANN · INGENIERÍA EN INFORMÁTICA Y SISTEMAS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5700"/>
            <a:ext cx="10883392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Comparación experimental de ordenación por inserción y Quicksort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2519680"/>
            <a:ext cx="1088339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AAB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Según el tamaño y el tipo de datos · C++ · 900 ejecuciones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30480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Kevin Xavier Marca </a:t>
            </a:r>
            <a:r>
              <a:rPr lang="en-US" sz="1500" dirty="0" err="1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Capacuti</a:t>
            </a:r>
            <a:endParaRPr lang="en-US" sz="1500" dirty="0">
              <a:solidFill>
                <a:srgbClr val="F6F4EE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 err="1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Programación</a:t>
            </a: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Avanzada · 2.º ciclo · Sección B · 2026-II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6238240"/>
            <a:ext cx="5170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AB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Inserción vs Quicksort · UNJBG · Programación Avanzada 2026-II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1. Presentación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311275"/>
            <a:ext cx="5175250" cy="224917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6350">
            <a:solidFill>
              <a:srgbClr val="D9DB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541780"/>
            <a:ext cx="485566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6F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8362" y="1889760"/>
            <a:ext cx="4776165" cy="146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118" indent="-1821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el tiempo de ejecución, las comparaciones, los cambios de posición y la profundidad de recursión.</a:t>
            </a:r>
            <a:endParaRPr lang="en-US" sz="1400" dirty="0"/>
          </a:p>
          <a:p>
            <a:pPr marL="182118" indent="-1821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cinco tipos de datos y tres tamaños de </a:t>
            </a:r>
            <a:r>
              <a:rPr lang="en-US" sz="1400" dirty="0" err="1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arreglo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3619" y="1283201"/>
            <a:ext cx="5175250" cy="224917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6350">
            <a:solidFill>
              <a:srgbClr val="D9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1280" y="1541780"/>
            <a:ext cx="485566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B2C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3162" y="1889760"/>
            <a:ext cx="4776165" cy="146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118" indent="-182118" algn="l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Inserción:</a:t>
            </a:r>
            <a:r>
              <a:rPr lang="en-US" sz="140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toma cada elemento y lo coloca en su posición correcta, como ordenar cartas en la mano. Es estable.</a:t>
            </a:r>
            <a:endParaRPr lang="en-US" sz="1400" dirty="0"/>
          </a:p>
          <a:p>
            <a:pPr marL="182118" indent="-182118" algn="l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Quicksort (Hoare, 1962):</a:t>
            </a:r>
            <a:r>
              <a:rPr lang="en-US" sz="140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elige un pivote, divide el arreglo y ordena cada parte con llamadas recursivas. No es estable.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1"/>
            <a:ext cx="5170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Inserción vs Quicksort · UNJBG · Programación Avanzada 2026-II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2. Implementación en C++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211012"/>
            <a:ext cx="4558130" cy="2217988"/>
          </a:xfrm>
          <a:prstGeom prst="roundRect">
            <a:avLst>
              <a:gd name="adj" fmla="val 3699"/>
            </a:avLst>
          </a:prstGeom>
          <a:solidFill>
            <a:srgbClr val="FFFFFF"/>
          </a:solidFill>
          <a:ln w="6350">
            <a:solidFill>
              <a:srgbClr val="D9DB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541780"/>
            <a:ext cx="485566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6F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fuente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33053" y="1840261"/>
            <a:ext cx="4192400" cy="1395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Versiones sencillas de ambos algoritmos, sin mejoras especiales.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Inserción: desplaza hacia la derecha los valores mayores hasta dejar el elemento en su lugar.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Quicksort: pivote central, dos índices (inicio y final) que intercambian valores y recursión en cada parte.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límite de profundidad en las llamadas recursivas.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96000" y="1311275"/>
            <a:ext cx="4662404" cy="2082164"/>
          </a:xfrm>
          <a:prstGeom prst="roundRect">
            <a:avLst>
              <a:gd name="adj" fmla="val 3699"/>
            </a:avLst>
          </a:prstGeom>
          <a:solidFill>
            <a:srgbClr val="FFFFFF"/>
          </a:solidFill>
          <a:ln w="6350">
            <a:solidFill>
              <a:srgbClr val="D9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1280" y="1541780"/>
            <a:ext cx="485566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B2C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métricas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37427" y="1801979"/>
            <a:ext cx="3939941" cy="1632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Tiempo en ms con std::chrono::steady_clock, solo el ordenamiento.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Contadores de comparaciones y de intercambios (en inserción son desplazamientos).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Profundidad de recursión de Quicksort.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guardados en archivos CSV; cada arreglo se verifica como ordenado.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Entorno: Dev-C++ 5.11, compilador 4.9.2.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6238241"/>
            <a:ext cx="5170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Inserción vs Quicksort · UNJBG · Programación Avanzada 2026-II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3. Diseño experimental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311275"/>
            <a:ext cx="5175250" cy="2197735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6350">
            <a:solidFill>
              <a:srgbClr val="D9DB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541780"/>
            <a:ext cx="485566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6F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25093" y="1889761"/>
            <a:ext cx="4769434" cy="1414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b="1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Patrones:</a:t>
            </a: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aleatorio, ascendente, descendente, casi ordenado (5 % alterado) y duplicados (15 valores).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b="1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Tamaños:</a:t>
            </a: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1 000, 5 000 y 10 000 elementos.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b="1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Repeticiones:</a:t>
            </a: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30 por combinación.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algoritmos × 5 patrones × 3 tamaños × 30 = </a:t>
            </a:r>
            <a:r>
              <a:rPr lang="en-US" sz="1350" b="1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900 ejecuciones</a:t>
            </a: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00775" y="1311275"/>
            <a:ext cx="5175250" cy="2197735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6350">
            <a:solidFill>
              <a:srgbClr val="D9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1280" y="1541780"/>
            <a:ext cx="485566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B2C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y reproducibilidad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9893" y="1889761"/>
            <a:ext cx="4769434" cy="1414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Semilla distinta por repetición: 42 + 7n + 100p + r.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Ambos programas usan la misma fórmula: reciben los mismos datos.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Mismo equipo, otros programas cerrados.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Estadística: media, mediana, desviación estándar, mínimo y máximo.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6238239"/>
            <a:ext cx="5170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Inserción vs Quicksort · UNJBG · Programación Avanzada 2026-II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703098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5. Resultados: tiempos de ejecución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84682" y="3931921"/>
            <a:ext cx="1080389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1890"/>
              </a:lnSpc>
              <a:buSzPct val="100000"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5170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Inserción vs Quicksort · UNJBG · Programación Avanzada 2026-II</a:t>
            </a:r>
            <a:endParaRPr lang="en-US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009BA4-D05F-0A7D-66DE-1EADCCD4B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52" y="1496089"/>
            <a:ext cx="5305580" cy="52152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C6800E6-4F0E-72F9-3580-B76789BA8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841" y="1396207"/>
            <a:ext cx="5052822" cy="5415038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E26B0D51-D247-48C3-16F1-3258614AF494}"/>
              </a:ext>
            </a:extLst>
          </p:cNvPr>
          <p:cNvSpPr/>
          <p:nvPr/>
        </p:nvSpPr>
        <p:spPr>
          <a:xfrm>
            <a:off x="2447945" y="1164618"/>
            <a:ext cx="1569453" cy="662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INSERCION</a:t>
            </a: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Sección B · 2026-II</a:t>
            </a:r>
            <a:endParaRPr lang="en-US" sz="15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8ADDC5-A964-3741-A691-BF64FB9E2D4E}"/>
              </a:ext>
            </a:extLst>
          </p:cNvPr>
          <p:cNvSpPr/>
          <p:nvPr/>
        </p:nvSpPr>
        <p:spPr>
          <a:xfrm>
            <a:off x="8429317" y="1098884"/>
            <a:ext cx="1569453" cy="662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QUICKSORT</a:t>
            </a: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Sección B · 2026-II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182062" y="13161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Crecimiento del tiempo según n</a:t>
            </a:r>
            <a:endParaRPr lang="en-US" sz="3000" dirty="0"/>
          </a:p>
        </p:txBody>
      </p:sp>
      <p:pic>
        <p:nvPicPr>
          <p:cNvPr id="4" name="Image 0" descr="Tiempo medio según n: aleatorio, ascendente y casi ordenado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2380214" y="937728"/>
            <a:ext cx="6468810" cy="3197644"/>
          </a:xfrm>
          <a:prstGeom prst="rect">
            <a:avLst/>
          </a:prstGeom>
        </p:spPr>
      </p:pic>
      <p:pic>
        <p:nvPicPr>
          <p:cNvPr id="5" name="Image 1" descr="Tiempo medio según n: casi ordenado y descendent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98493" y="4033103"/>
            <a:ext cx="6450531" cy="22904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2800" y="6238239"/>
            <a:ext cx="5170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Inserción vs Quicksort · UNJBG · Programación Avanzada 2026-II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Cuántas veces tarda más la inserción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553976"/>
              </p:ext>
            </p:extLst>
          </p:nvPr>
        </p:nvGraphicFramePr>
        <p:xfrm>
          <a:off x="822960" y="1318260"/>
          <a:ext cx="10556240" cy="2423160"/>
        </p:xfrm>
        <a:graphic>
          <a:graphicData uri="http://schemas.openxmlformats.org/drawingml/2006/table">
            <a:tbl>
              <a:tblPr/>
              <a:tblGrid>
                <a:gridCol w="263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Patrón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 = 1 000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 = 5 000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 = 10 000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Aleatorio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8,6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43,6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41,6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Ascendente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0,16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0,10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0,07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Descendente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56,5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2,24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Casi ordenado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8,9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28,3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Duplicados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10,3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26,2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95,5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91413" y="3931921"/>
            <a:ext cx="10797159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menor que 1: la inserción fue más rápida.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Casi ordenado: solo se alteró el 5 % de los datos, pero algunos estaban lejos de su posición y obligaron a desplazar varios valores.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Duplicados: Quicksort siguió rápido porque sus índices se detienen en valores iguales al pivote.</a:t>
            </a:r>
            <a:endParaRPr lang="en-US" sz="1350" dirty="0"/>
          </a:p>
          <a:p>
            <a:pPr marL="175387" indent="-175387" algn="l">
              <a:lnSpc>
                <a:spcPts val="1823"/>
              </a:lnSpc>
              <a:buSzPct val="100000"/>
              <a:buChar char="•"/>
            </a:pPr>
            <a:r>
              <a:rPr lang="en-US" sz="1350" dirty="0">
                <a:solidFill>
                  <a:srgbClr val="1D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Limitación: los tiempos dependen del equipo, el compilador y el sistema operativo; importan más las diferencias grandes que las pequeñas.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12800" y="6238242"/>
            <a:ext cx="5170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Inserción vs Quicksort · UNJBG · Programación Avanzada 2026-II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6. Conclusiones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70839" y="1308100"/>
            <a:ext cx="10817733" cy="2417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5961" indent="-195961" algn="l">
              <a:lnSpc>
                <a:spcPts val="2093"/>
              </a:lnSpc>
              <a:buSzPct val="100000"/>
              <a:buChar char="•"/>
            </a:pPr>
            <a:r>
              <a:rPr lang="en-US" sz="155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Quicksort fue unas 42 veces más rápido con 10 000 datos aleatorios (2,73 ms frente a 113,50 ms) y unas 340 veces con datos descendentes.</a:t>
            </a:r>
            <a:endParaRPr lang="en-US" sz="1550" dirty="0"/>
          </a:p>
          <a:p>
            <a:pPr marL="195961" indent="-195961" algn="l">
              <a:lnSpc>
                <a:spcPts val="2093"/>
              </a:lnSpc>
              <a:buSzPct val="100000"/>
              <a:buChar char="•"/>
            </a:pPr>
            <a:r>
              <a:rPr lang="en-US" sz="155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inserción fue más rápida con datos ascendentes (0,053 ms frente a 0,808 ms), pero con datos casi ordenados fue unas 28 veces más lenta.</a:t>
            </a:r>
            <a:endParaRPr lang="en-US" sz="1550" dirty="0"/>
          </a:p>
          <a:p>
            <a:pPr marL="195961" indent="-195961" algn="l">
              <a:lnSpc>
                <a:spcPts val="2093"/>
              </a:lnSpc>
              <a:buSzPct val="100000"/>
              <a:buChar char="•"/>
            </a:pPr>
            <a:r>
              <a:rPr lang="en-US" sz="155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conteos coinciden con la complejidad: inserción necesita poco trabajo si los datos están ordenados y mucho si están desordenados; Quicksort crece más lento.</a:t>
            </a:r>
            <a:endParaRPr lang="en-US" sz="1550" dirty="0"/>
          </a:p>
          <a:p>
            <a:pPr marL="195961" indent="-195961" algn="l">
              <a:lnSpc>
                <a:spcPts val="2093"/>
              </a:lnSpc>
              <a:buSzPct val="100000"/>
              <a:buChar char="•"/>
            </a:pPr>
            <a:r>
              <a:rPr lang="en-US" sz="155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Quicksort conviene para arreglos medianos o grandes desordenados; la inserción, para arreglos pequeños o </a:t>
            </a:r>
            <a:r>
              <a:rPr lang="en-US" sz="1550" dirty="0" err="1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</a:t>
            </a:r>
            <a:r>
              <a:rPr lang="en-US" sz="155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50" dirty="0" err="1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ordenados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12800" y="6238242"/>
            <a:ext cx="5170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AB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Inserción vs Quicksort · UNJBG · Programación Avanzada 2026-II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erción vs Quicksort - Sustentación">
  <a:themeElements>
    <a:clrScheme name="Inserción vs Quicksort - Sustentación">
      <a:dk1>
        <a:srgbClr val="1D2433"/>
      </a:dk1>
      <a:lt1>
        <a:srgbClr val="F6F4EE"/>
      </a:lt1>
      <a:dk2>
        <a:srgbClr val="535862"/>
      </a:dk2>
      <a:lt2>
        <a:srgbClr val="E0DFDB"/>
      </a:lt2>
      <a:accent1>
        <a:srgbClr val="1E6FD9"/>
      </a:accent1>
      <a:accent2>
        <a:srgbClr val="9B2C3A"/>
      </a:accent2>
      <a:accent3>
        <a:srgbClr val="5B6475"/>
      </a:accent3>
      <a:accent4>
        <a:srgbClr val="AAB4C8"/>
      </a:accent4>
      <a:accent5>
        <a:srgbClr val="9AA0A6"/>
      </a:accent5>
      <a:accent6>
        <a:srgbClr val="74777E"/>
      </a:accent6>
      <a:hlink>
        <a:srgbClr val="0563C1"/>
      </a:hlink>
      <a:folHlink>
        <a:srgbClr val="954F72"/>
      </a:folHlink>
    </a:clrScheme>
    <a:fontScheme name="Inserción vs Quicksort - Sustentació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873</Words>
  <Application>Microsoft Office PowerPoint</Application>
  <PresentationFormat>Panorámica</PresentationFormat>
  <Paragraphs>97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Georgia</vt:lpstr>
      <vt:lpstr>Segoe UI</vt:lpstr>
      <vt:lpstr>Inserción vs Quicksort - Sustentación</vt:lpstr>
      <vt:lpstr>Comparación experimental de ordenación por inserción y Quicksort</vt:lpstr>
      <vt:lpstr>1. Presentación del proyecto</vt:lpstr>
      <vt:lpstr>2. Implementación en C++</vt:lpstr>
      <vt:lpstr>3. Diseño experimental</vt:lpstr>
      <vt:lpstr>5. Resultados: tiempos de ejecución</vt:lpstr>
      <vt:lpstr>Crecimiento del tiempo según n</vt:lpstr>
      <vt:lpstr>Cuántas veces tarda más la inserción</vt:lpstr>
      <vt:lpstr>6.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Inserción vs Quicksort - Sustentación</dc:title>
  <dc:subject/>
  <dc:creator>ASUS</dc:creator>
  <cp:lastModifiedBy>ASUS</cp:lastModifiedBy>
  <cp:revision>4</cp:revision>
  <dcterms:created xsi:type="dcterms:W3CDTF">2026-10-28T15:02:30Z</dcterms:created>
  <dcterms:modified xsi:type="dcterms:W3CDTF">2026-10-29T16:12:49Z</dcterms:modified>
</cp:coreProperties>
</file>